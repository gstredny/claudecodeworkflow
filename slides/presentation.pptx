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6" Type="http://schemas.openxmlformats.org/officeDocument/2006/relationships/viewProps" Target="viewProps.xml" /><Relationship Id="rId5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8" Type="http://schemas.openxmlformats.org/officeDocument/2006/relationships/tableStyles" Target="tableStyles.xml" /><Relationship Id="rId7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AI-Assisted Development with Claude Code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 Task-Driven Workflow for Reliable, Repeatable Results</a:t>
            </a:r>
          </a:p>
          <a:p>
            <a:pPr lvl="0" indent="0" marL="0">
              <a:buNone/>
            </a:pPr>
            <a:r>
              <a:rPr/>
              <a:t>Built over 60+ tasks on a production codebase.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Claude Code forgets everything between sessions</a:t>
            </a:r>
          </a:p>
          <a:p>
            <a:pPr lvl="0"/>
            <a:r>
              <a:rPr/>
              <a:t>Every new session starts from zero</a:t>
            </a:r>
          </a:p>
          <a:p>
            <a:pPr lvl="0"/>
            <a:r>
              <a:rPr/>
              <a:t>No memory of what was tried or what failed</a:t>
            </a:r>
          </a:p>
          <a:p>
            <a:pPr lvl="0"/>
            <a:r>
              <a:rPr/>
              <a:t>You repeat yourself constantly</a:t>
            </a:r>
          </a:p>
          <a:p>
            <a:pPr lvl="0"/>
            <a:r>
              <a:rPr/>
              <a:t>Same mistakes happen over and over</a:t>
            </a:r>
          </a:p>
          <a:p>
            <a:pPr lvl="0"/>
            <a:r>
              <a:rPr/>
              <a:t>“What were we doing again?” every time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The result without a system:</a:t>
            </a:r>
          </a:p>
          <a:p>
            <a:pPr lvl="0"/>
            <a:r>
              <a:rPr/>
              <a:t>Wasted time re-explaining context</a:t>
            </a:r>
          </a:p>
          <a:p>
            <a:pPr lvl="0"/>
            <a:r>
              <a:rPr/>
              <a:t>Retrying approaches that already failed</a:t>
            </a:r>
          </a:p>
          <a:p>
            <a:pPr lvl="0"/>
            <a:r>
              <a:rPr/>
              <a:t>No institutional learning across tasks</a:t>
            </a:r>
          </a:p>
          <a:p>
            <a:pPr lvl="0"/>
            <a:r>
              <a:rPr/>
              <a:t>Inconsistent quality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Declarative, not imperative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2700"/>
                <a:gridCol w="25527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Old Way (Imperative)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New Way (Declarative)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“Fix file.py line 312”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“Make this test pass”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“Change the mapping from X to Y”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“All mappings match the schema”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“Then update the test”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“Constraint: don’t add new queries”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“Then run pytest”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“Figure out how to make it work”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Tell Claude WHAT the result should be, not HOW to get there</a:t>
            </a:r>
          </a:p>
          <a:p>
            <a:pPr lvl="0"/>
            <a:r>
              <a:rPr/>
              <a:t>Define success criteria (testable outcomes)</a:t>
            </a:r>
          </a:p>
          <a:p>
            <a:pPr lvl="0"/>
            <a:r>
              <a:rPr/>
              <a:t>Define constraints (what NOT to do)</a:t>
            </a:r>
          </a:p>
          <a:p>
            <a:pPr lvl="0"/>
            <a:r>
              <a:rPr/>
              <a:t>Let Claude figure out the implementation</a:t>
            </a:r>
          </a:p>
          <a:p>
            <a:pPr lvl="0"/>
            <a:r>
              <a:rPr/>
              <a:t>Claude can loop, try approaches, and self-correct</a:t>
            </a:r>
          </a:p>
          <a:p>
            <a:pPr lvl="0" indent="0">
              <a:buNone/>
            </a:pPr>
            <a:r>
              <a:rPr>
                <a:latin typeface="Courier"/>
              </a:rPr>
              <a:t>Phase 1  PLAN .............. Claude AI (browser)
   |     Define success criteria, tests, constraints
   v
Phase 2  EXPLORE ........... Claude Code (CLI)
   |     Check tasks, explore codebase, generate plan
   v
Phase 3  REVIEW ............ Claude AI (browser)
   |     Challenge assumptions, simplify, improve
   v
Phase 4  EXECUTE ........... Claude Code (CLI)
   |     Implement. Log every attempt to task file
   v
Phase 5  VERIFY ............ You + Claude Code
   |     Walk Done Criteria one by one
   v
Phase 6  CLOSE-OUT ......... You
         Approve. Retro entry. Move to closed/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Two tools, one loop</a:t>
            </a:r>
          </a:p>
          <a:p>
            <a:pPr lvl="0"/>
            <a:r>
              <a:rPr b="1"/>
              <a:t>Claude AI (browser)</a:t>
            </a:r>
            <a:r>
              <a:rPr/>
              <a:t> = Thinking (plan, review)</a:t>
            </a:r>
          </a:p>
          <a:p>
            <a:pPr lvl="0"/>
            <a:r>
              <a:rPr b="1"/>
              <a:t>Claude Code (CLI)</a:t>
            </a:r>
            <a:r>
              <a:rPr/>
              <a:t> = Doing (explore, execute)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Every task gets a file in </a:t>
            </a:r>
            <a:r>
              <a:rPr b="1">
                <a:latin typeface="Courier"/>
              </a:rPr>
              <a:t>docs/tasks/open/</a:t>
            </a:r>
          </a:p>
          <a:p>
            <a:pPr lvl="0" indent="0">
              <a:buNone/>
            </a:pPr>
            <a:r>
              <a:rPr>
                <a:latin typeface="Courier"/>
              </a:rPr>
              <a:t>## Task: Fix user session timeout
## Status: in progress
## Goal: Sessions persist across page refreshes
## Done Criteria:
- [ ] Session survives browser refresh
- [ ] Token refresh happens silently
- [ ] pytest test_session.py passes
## Left Off At:
Modified auth.py line 312. test_login passes
but test_session fails on line 45 — token response
missing refresh_token field.
## Attempts:
- 2026-02-05: Added localStorage persistence
  -&gt; tokens cleared on refresh -&gt; failed
- 2026-02-06: Switched to httpOnly cookies
  -&gt; tokens persist, but refresh endpoint 401s -&gt; partial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Four non-negotiable rules</a:t>
            </a:r>
          </a:p>
          <a:p>
            <a:pPr lvl="0" indent="0" marL="0">
              <a:buNone/>
            </a:pPr>
            <a:r>
              <a:rPr b="1"/>
              <a:t>1. Status is never “done”</a:t>
            </a:r>
            <a:r>
              <a:rPr/>
              <a:t> - Claude sets “needs verification” - Only YOU can close a task - After verifying every Done Criterion</a:t>
            </a:r>
          </a:p>
          <a:p>
            <a:pPr lvl="0" indent="0" marL="0">
              <a:buNone/>
            </a:pPr>
            <a:r>
              <a:rPr b="1"/>
              <a:t>2. Attempts log is append-only</a:t>
            </a:r>
            <a:r>
              <a:rPr/>
              <a:t> - Log immediately after each attempt (not batched) - Never delete or overwrite entries - 3 attempts in one session = 3 dated entries</a:t>
            </a:r>
          </a:p>
          <a:p>
            <a:pPr lvl="0" indent="0" marL="0">
              <a:buNone/>
            </a:pPr>
            <a:r>
              <a:rPr b="1"/>
              <a:t>3. “Left Off At” must enable cold resume</a:t>
            </a:r>
            <a:r>
              <a:rPr/>
              <a:t> - Bad: “Working on the bug” - Good: “Modified auth.py:312, test_login passes but test_session fails — need to check refresh_token field”</a:t>
            </a:r>
          </a:p>
          <a:p>
            <a:pPr lvl="0" indent="0" marL="0">
              <a:buNone/>
            </a:pPr>
            <a:r>
              <a:rPr b="1"/>
              <a:t>4. Only the user closes tasks</a:t>
            </a:r>
            <a:r>
              <a:rPr/>
              <a:t> - Claude proposes completion - You walk through Done Criteria - You say “close it out”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A contract between you and Claude Code</a:t>
            </a:r>
          </a:p>
          <a:p>
            <a:pPr lvl="0" indent="0" marL="0">
              <a:buNone/>
            </a:pPr>
            <a:r>
              <a:rPr/>
              <a:t>Claude reads </a:t>
            </a:r>
            <a:r>
              <a:rPr>
                <a:latin typeface="Courier"/>
              </a:rPr>
              <a:t>CLAUDE.md</a:t>
            </a:r>
            <a:r>
              <a:rPr/>
              <a:t> at the start of every session.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Three sections:</a:t>
            </a:r>
          </a:p>
          <a:p>
            <a:pPr lvl="0" indent="0" marL="0">
              <a:buNone/>
            </a:pPr>
            <a:r>
              <a:rPr b="1"/>
              <a:t>Task Management</a:t>
            </a:r>
            <a:r>
              <a:rPr/>
              <a:t> (universal — same for every project) - Check for existing tasks before working - Create task files, log attempts, never say “done”</a:t>
            </a:r>
          </a:p>
          <a:p>
            <a:pPr lvl="0" indent="0" marL="0">
              <a:buNone/>
            </a:pPr>
            <a:r>
              <a:rPr b="1"/>
              <a:t>Critical Rules with WHY blocks</a:t>
            </a:r>
            <a:r>
              <a:rPr/>
              <a:t> (project-specific)</a:t>
            </a:r>
          </a:p>
          <a:p>
            <a:pPr lvl="0" indent="0">
              <a:buNone/>
            </a:pPr>
            <a:r>
              <a:rPr>
                <a:latin typeface="Courier"/>
              </a:rPr>
              <a:t>### .env IS SACRED
&gt; WHY: Claude modified .env before — lost credentials.
&gt; Recovery took two days.
- READ-ONLY. Never modify without approval.
- Missing var? Say so. NEVER create new .env</a:t>
            </a:r>
          </a:p>
          <a:p>
            <a:pPr lvl="0" indent="0" marL="0">
              <a:buNone/>
            </a:pPr>
            <a:r>
              <a:rPr b="1"/>
              <a:t>Constraints</a:t>
            </a:r>
            <a:r>
              <a:rPr/>
              <a:t> (project-specific) - No new endpoints - No UI changes without approval - Preserve caching decorators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The secret: WHY blocks</a:t>
            </a:r>
          </a:p>
          <a:p>
            <a:pPr lvl="0" indent="0" marL="0">
              <a:buNone/>
            </a:pPr>
            <a:r>
              <a:rPr/>
              <a:t>Claude follows rules better when it understands </a:t>
            </a:r>
            <a:r>
              <a:rPr i="1"/>
              <a:t>consequences</a:t>
            </a:r>
            <a:r>
              <a:rPr/>
              <a:t>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Shell scripts that fire on Claude Code events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2900"/>
                <a:gridCol w="34925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What It Does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session-start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Injects workflow rules + recent retro entries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stop-require-summary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Blocks stopping without close-out summary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guard-task-status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Prevents setting status to “done”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require-retro-before-close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Requires retro entry before closing task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teammate-require-summary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Requires completion report from teammates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require-venv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Blocks Python commands without venv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task-require-tests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Runs tests before task completion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Two levels:</a:t>
            </a:r>
          </a:p>
          <a:p>
            <a:pPr lvl="0"/>
            <a:r>
              <a:rPr b="1"/>
              <a:t>Global hooks</a:t>
            </a:r>
            <a:r>
              <a:rPr/>
              <a:t> (</a:t>
            </a:r>
            <a:r>
              <a:rPr>
                <a:latin typeface="Courier"/>
              </a:rPr>
              <a:t>~/.claude/hooks/</a:t>
            </a:r>
            <a:r>
              <a:rPr/>
              <a:t>) — workflow rules, all projects</a:t>
            </a:r>
          </a:p>
          <a:p>
            <a:pPr lvl="0"/>
            <a:r>
              <a:rPr b="1"/>
              <a:t>Project hooks</a:t>
            </a:r>
            <a:r>
              <a:rPr/>
              <a:t> (</a:t>
            </a:r>
            <a:r>
              <a:rPr>
                <a:latin typeface="Courier"/>
              </a:rPr>
              <a:t>.claude/hooks/</a:t>
            </a:r>
            <a:r>
              <a:rPr/>
              <a:t>) — customizable per language/stack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How they work:</a:t>
            </a:r>
          </a:p>
          <a:p>
            <a:pPr lvl="0"/>
            <a:r>
              <a:rPr/>
              <a:t>Exit 0 = allow</a:t>
            </a:r>
          </a:p>
          <a:p>
            <a:pPr lvl="0"/>
            <a:r>
              <a:rPr/>
              <a:t>Exit 2 + stderr message = block with explanation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Append-only log of lessons learned</a:t>
            </a:r>
          </a:p>
          <a:p>
            <a:pPr lvl="0" indent="0">
              <a:buNone/>
            </a:pPr>
            <a:r>
              <a:rPr>
                <a:latin typeface="Courier"/>
              </a:rPr>
              <a:t>### 2026-02-06 Task: fix-session-timeout
- What worked: httpOnly cookies for token persistence
- What broke: localStorage approach (tokens cleared on refresh)
- Workflow friction: None
- Pattern: When persisting auth tokens, prefer server-side
  storage (cookies) over client-side (localStorage) for
  security and cross-tab consistency.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How it compounds:</a:t>
            </a:r>
          </a:p>
          <a:p>
            <a:pPr lvl="0" indent="-342900" marL="342900">
              <a:buAutoNum type="arabicPeriod"/>
            </a:pPr>
            <a:r>
              <a:rPr b="1"/>
              <a:t>Session hook</a:t>
            </a:r>
            <a:r>
              <a:rPr/>
              <a:t> injects last 10 entries at session start</a:t>
            </a:r>
          </a:p>
          <a:p>
            <a:pPr lvl="0" indent="-342900" marL="342900">
              <a:buAutoNum type="arabicPeriod"/>
            </a:pPr>
            <a:r>
              <a:rPr/>
              <a:t>Claude starts every session knowing recent lessons</a:t>
            </a:r>
          </a:p>
          <a:p>
            <a:pPr lvl="0" indent="-342900" marL="342900">
              <a:buAutoNum type="arabicPeriod"/>
            </a:pPr>
            <a:r>
              <a:rPr/>
              <a:t>Same mistakes stop repeating across tasks</a:t>
            </a:r>
          </a:p>
          <a:p>
            <a:pPr lvl="0" indent="-342900" marL="342900">
              <a:buAutoNum type="arabicPeriod"/>
            </a:pPr>
            <a:r>
              <a:rPr/>
              <a:t>Patterns become institutional knowledge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The “Pattern” field is most valuable</a:t>
            </a:r>
          </a:p>
          <a:p>
            <a:pPr lvl="0"/>
            <a:r>
              <a:rPr/>
              <a:t>Good: “Check both absolute and relative imports when verifying unused modules”</a:t>
            </a:r>
          </a:p>
          <a:p>
            <a:pPr lvl="0"/>
            <a:r>
              <a:rPr/>
              <a:t>Bad: “Fixed the import bug in auth.py”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Multiple Claude instances working in parallel</a:t>
            </a:r>
          </a:p>
          <a:p>
            <a:pPr lvl="0" indent="0" marL="0">
              <a:buNone/>
            </a:pPr>
            <a:r>
              <a:rPr b="1"/>
              <a:t>Use when ALL four are true:</a:t>
            </a:r>
            <a:r>
              <a:rPr/>
              <a:t> - Work spans multiple files with clear ownership boundaries - Tasks can run independently in parallel - Each piece produces a clear deliverable - Time savings outweigh coordination overhead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How it works:</a:t>
            </a:r>
          </a:p>
          <a:p>
            <a:pPr lvl="0"/>
            <a:r>
              <a:rPr b="1"/>
              <a:t>Lead agent</a:t>
            </a:r>
            <a:r>
              <a:rPr/>
              <a:t> — delegate mode, coordinates only, owns task file</a:t>
            </a:r>
          </a:p>
          <a:p>
            <a:pPr lvl="0"/>
            <a:r>
              <a:rPr b="1"/>
              <a:t>2-4 teammates</a:t>
            </a:r>
            <a:r>
              <a:rPr/>
              <a:t> — each owns specific files, reports via messaging</a:t>
            </a:r>
          </a:p>
          <a:p>
            <a:pPr lvl="0"/>
            <a:r>
              <a:rPr b="1"/>
              <a:t>No file overlap</a:t>
            </a:r>
            <a:r>
              <a:rPr/>
              <a:t> between teammates (non-negotiable)</a:t>
            </a:r>
          </a:p>
          <a:p>
            <a:pPr lvl="0"/>
            <a:r>
              <a:rPr/>
              <a:t>Lead logs all teammate results to the task file, tagged by role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Quick check:</a:t>
            </a:r>
          </a:p>
          <a:p>
            <a:pPr lvl="0" indent="0" marL="0">
              <a:buNone/>
            </a:pPr>
            <a:r>
              <a:rPr/>
              <a:t>“Can I draw file-ownership lines with zero overlap?” - </a:t>
            </a:r>
            <a:r>
              <a:rPr b="1"/>
              <a:t>Yes</a:t>
            </a:r>
            <a:r>
              <a:rPr/>
              <a:t> = agent team candidate - </a:t>
            </a:r>
            <a:r>
              <a:rPr b="1"/>
              <a:t>No</a:t>
            </a:r>
            <a:r>
              <a:rPr/>
              <a:t> = single agent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Prerequisites</a:t>
            </a:r>
          </a:p>
          <a:p>
            <a:pPr lvl="0"/>
            <a:r>
              <a:rPr/>
              <a:t>Claude Code CLI installed</a:t>
            </a:r>
          </a:p>
          <a:p>
            <a:pPr lvl="0"/>
            <a:r>
              <a:rPr/>
              <a:t>Claude AI browser access (claude.ai)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Step 1: Run the installer</a:t>
            </a:r>
          </a:p>
          <a:p>
            <a:pPr lvl="0" indent="0">
              <a:buNone/>
            </a:pPr>
            <a:r>
              <a:rPr>
                <a:solidFill>
                  <a:srgbClr val="008000"/>
                </a:solidFill>
                <a:latin typeface="Courier"/>
              </a:rPr>
              <a:t>cd</a:t>
            </a:r>
            <a:r>
              <a:rPr>
                <a:latin typeface="Courier"/>
              </a:rPr>
              <a:t> ~/workflow-starter-kit </a:t>
            </a:r>
            <a:r>
              <a:rPr b="1">
                <a:solidFill>
                  <a:srgbClr val="007020"/>
                </a:solidFill>
                <a:latin typeface="Courier"/>
              </a:rPr>
              <a:t>&amp;&amp;</a:t>
            </a:r>
            <a:r>
              <a:rPr>
                <a:latin typeface="Courier"/>
              </a:rPr>
              <a:t> ./install.sh</a:t>
            </a:r>
          </a:p>
          <a:p>
            <a:pPr lvl="0" indent="0" marL="0">
              <a:buNone/>
            </a:pPr>
            <a:r>
              <a:rPr/>
              <a:t>Installs global hooks, settings, and optionally sets up a project.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Step 2: Customize CLAUDE.md</a:t>
            </a:r>
          </a:p>
          <a:p>
            <a:pPr lvl="0"/>
            <a:r>
              <a:rPr/>
              <a:t>Keep Task Management section verbatim</a:t>
            </a:r>
          </a:p>
          <a:p>
            <a:pPr lvl="0"/>
            <a:r>
              <a:rPr/>
              <a:t>Add your project’s Critical Rules with WHY blocks</a:t>
            </a:r>
          </a:p>
          <a:p>
            <a:pPr lvl="0"/>
            <a:r>
              <a:rPr/>
              <a:t>Add your constraints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Step 3: Create your first task</a:t>
            </a:r>
          </a:p>
          <a:p>
            <a:pPr lvl="0" indent="0">
              <a:buNone/>
            </a:pPr>
            <a:r>
              <a:rPr>
                <a:latin typeface="Courier"/>
              </a:rPr>
              <a:t>"Create a task file in docs/tasks/open/ for:
[describe what you want to accomplish]"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Step 4: Follow the loop</a:t>
            </a:r>
          </a:p>
          <a:p>
            <a:pPr lvl="0" indent="0" marL="0">
              <a:buNone/>
            </a:pPr>
            <a:r>
              <a:rPr/>
              <a:t>Plan (browser) -&gt; Explore (CLI) -&gt; Review (browser) -&gt; Execute (CLI) -&gt; Verify -&gt; Close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From 60+ tasks on a production codebase</a:t>
            </a:r>
          </a:p>
          <a:p>
            <a:pPr lvl="0" indent="0" marL="0">
              <a:buNone/>
            </a:pPr>
            <a:r>
              <a:rPr b="1"/>
              <a:t>Session discipline saves hours</a:t>
            </a:r>
            <a:r>
              <a:rPr/>
              <a:t> - Start: “Check docs/tasks/open first” - End: “What changed, test results, what’s left”</a:t>
            </a:r>
          </a:p>
          <a:p>
            <a:pPr lvl="0" indent="0" marL="0">
              <a:buNone/>
            </a:pPr>
            <a:r>
              <a:rPr b="1"/>
              <a:t>WHY blocks compound over time</a:t>
            </a:r>
            <a:r>
              <a:rPr/>
              <a:t> - Every painful mistake becomes a permanent guardrail - After a few months, CLAUDE.md prevents entire categories of errors</a:t>
            </a:r>
          </a:p>
          <a:p>
            <a:pPr lvl="0" indent="0" marL="0">
              <a:buNone/>
            </a:pPr>
            <a:r>
              <a:rPr b="1"/>
              <a:t>Declarative beats imperative every time</a:t>
            </a:r>
            <a:r>
              <a:rPr/>
              <a:t> - “Make this test pass” &gt; 10-step implementation plan - Define the what, let Claude find the how</a:t>
            </a:r>
          </a:p>
          <a:p>
            <a:pPr lvl="0" indent="0" marL="0">
              <a:buNone/>
            </a:pPr>
            <a:r>
              <a:rPr b="1"/>
              <a:t>First CI run always fails — and that’s fine</a:t>
            </a:r>
            <a:r>
              <a:rPr/>
              <a:t> - Catches implicit dependencies that work locally - Treat the first failure as expected, not alarming</a:t>
            </a:r>
          </a:p>
          <a:p>
            <a:pPr lvl="0" indent="0" marL="0">
              <a:buNone/>
            </a:pPr>
            <a:r>
              <a:rPr b="1"/>
              <a:t>Test before declaring victory</a:t>
            </a:r>
            <a:r>
              <a:rPr/>
              <a:t> - Hooks enforce this automatically - “Works on my machine” is not Done Criteria</a:t>
            </a:r>
          </a:p>
          <a:p>
            <a:pPr lvl="0" indent="0" marL="0">
              <a:buNone/>
            </a:pPr>
            <a:r>
              <a:rPr b="1"/>
              <a:t>The task file is the source of truth</a:t>
            </a:r>
            <a:r>
              <a:rPr/>
              <a:t> - When in doubt, read the task file - If the task file is wrong, fix the task file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2026-02-09T21:01:41Z</dcterms:created>
  <dcterms:modified xsi:type="dcterms:W3CDTF">2026-02-09T21:01:41Z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